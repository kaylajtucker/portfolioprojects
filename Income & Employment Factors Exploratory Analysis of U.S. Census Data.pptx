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embeddedFontLst>
    <p:embeddedFont>
      <p:font typeface="Lato" panose="020F0502020204030203" pitchFamily="34" charset="0"/>
      <p:regular r:id="rId10"/>
      <p:bold r:id="rId11"/>
      <p:italic r:id="rId12"/>
      <p:boldItalic r:id="rId13"/>
    </p:embeddedFont>
    <p:embeddedFont>
      <p:font typeface="Raleway" panose="020F0502020204030204" pitchFamily="2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990" y="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850693d5ed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850693d5ed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850693d5ed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850693d5ed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850693d5ed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850693d5ed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850693d5ed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850693d5ed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850693d5ed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850693d5ed_0_1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850693d5ed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850693d5ed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/>
              <a:t>Income &amp; Employment Factors Exploratory Analysis of U.S. Census Data</a:t>
            </a:r>
            <a:endParaRPr sz="3600" dirty="0"/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Kayla Tucker &amp; Makendra Crosby </a:t>
            </a: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729450" y="111102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Problem Statement</a:t>
            </a:r>
            <a:endParaRPr dirty="0"/>
          </a:p>
        </p:txBody>
      </p:sp>
      <p:sp>
        <p:nvSpPr>
          <p:cNvPr id="93" name="Google Shape;93;p14"/>
          <p:cNvSpPr txBox="1">
            <a:spLocks noGrp="1"/>
          </p:cNvSpPr>
          <p:nvPr>
            <p:ph type="body" idx="1"/>
          </p:nvPr>
        </p:nvSpPr>
        <p:spPr>
          <a:xfrm>
            <a:off x="729450" y="1693400"/>
            <a:ext cx="7688700" cy="31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115">
                <a:solidFill>
                  <a:srgbClr val="000000"/>
                </a:solidFill>
              </a:rPr>
              <a:t>This project  analyzes demographic and work-related factors that may influence whether an individual earns more or less than $50K per year.</a:t>
            </a:r>
            <a:endParaRPr sz="1115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115">
                <a:solidFill>
                  <a:srgbClr val="000000"/>
                </a:solidFill>
              </a:rPr>
              <a:t>Why this topic matters:</a:t>
            </a:r>
            <a:br>
              <a:rPr lang="en" sz="1115">
                <a:solidFill>
                  <a:srgbClr val="000000"/>
                </a:solidFill>
              </a:rPr>
            </a:br>
            <a:r>
              <a:rPr lang="en" sz="1115">
                <a:solidFill>
                  <a:srgbClr val="000000"/>
                </a:solidFill>
              </a:rPr>
              <a:t>Income inequality is an important social issue. Understanding how attributes like age, education, occupation, and work hours correlate with income can provide insights into labor economics.</a:t>
            </a:r>
            <a:endParaRPr sz="1115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115">
                <a:solidFill>
                  <a:srgbClr val="000000"/>
                </a:solidFill>
              </a:rPr>
              <a:t>Dataset Overview:</a:t>
            </a:r>
            <a:endParaRPr sz="1115">
              <a:solidFill>
                <a:srgbClr val="000000"/>
              </a:solidFill>
            </a:endParaRPr>
          </a:p>
          <a:p>
            <a:pPr marL="457200" lvl="0" indent="-299403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15"/>
              <a:buFont typeface="Arial"/>
              <a:buChar char="●"/>
            </a:pPr>
            <a:r>
              <a:rPr lang="en" sz="1115">
                <a:solidFill>
                  <a:srgbClr val="000000"/>
                </a:solidFill>
              </a:rPr>
              <a:t>Source: Adult Income dataset (UCI Machine Learning Repository)</a:t>
            </a:r>
            <a:br>
              <a:rPr lang="en" sz="1115">
                <a:solidFill>
                  <a:srgbClr val="000000"/>
                </a:solidFill>
              </a:rPr>
            </a:br>
            <a:endParaRPr sz="1115">
              <a:solidFill>
                <a:srgbClr val="000000"/>
              </a:solidFill>
            </a:endParaRPr>
          </a:p>
          <a:p>
            <a:pPr marL="457200" lvl="0" indent="-299403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5"/>
              <a:buFont typeface="Arial"/>
              <a:buChar char="●"/>
            </a:pPr>
            <a:r>
              <a:rPr lang="en" sz="1115">
                <a:solidFill>
                  <a:srgbClr val="000000"/>
                </a:solidFill>
              </a:rPr>
              <a:t>Rows: ~48,842 individuals</a:t>
            </a:r>
            <a:br>
              <a:rPr lang="en" sz="1115">
                <a:solidFill>
                  <a:srgbClr val="000000"/>
                </a:solidFill>
              </a:rPr>
            </a:br>
            <a:endParaRPr sz="1115">
              <a:solidFill>
                <a:srgbClr val="000000"/>
              </a:solidFill>
            </a:endParaRPr>
          </a:p>
          <a:p>
            <a:pPr marL="457200" lvl="0" indent="-299403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5"/>
              <a:buFont typeface="Arial"/>
              <a:buChar char="●"/>
            </a:pPr>
            <a:r>
              <a:rPr lang="en" sz="1115">
                <a:solidFill>
                  <a:srgbClr val="000000"/>
                </a:solidFill>
              </a:rPr>
              <a:t>Features: 14 demographic and employment-related variables</a:t>
            </a:r>
            <a:br>
              <a:rPr lang="en" sz="1115">
                <a:solidFill>
                  <a:srgbClr val="000000"/>
                </a:solidFill>
              </a:rPr>
            </a:br>
            <a:endParaRPr sz="1115">
              <a:solidFill>
                <a:srgbClr val="000000"/>
              </a:solidFill>
            </a:endParaRPr>
          </a:p>
          <a:p>
            <a:pPr marL="457200" lvl="0" indent="-299403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5"/>
              <a:buFont typeface="Arial"/>
              <a:buChar char="●"/>
            </a:pPr>
            <a:r>
              <a:rPr lang="en" sz="1115">
                <a:solidFill>
                  <a:srgbClr val="000000"/>
                </a:solidFill>
              </a:rPr>
              <a:t>Target Variable: Income (≤ $50K or &gt; $50K)</a:t>
            </a:r>
            <a:br>
              <a:rPr lang="en" sz="575">
                <a:solidFill>
                  <a:srgbClr val="000000"/>
                </a:solidFill>
              </a:rPr>
            </a:br>
            <a:endParaRPr sz="575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endParaRPr sz="625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>
            <a:spLocks noGrp="1"/>
          </p:cNvSpPr>
          <p:nvPr>
            <p:ph type="title"/>
          </p:nvPr>
        </p:nvSpPr>
        <p:spPr>
          <a:xfrm>
            <a:off x="727650" y="112170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140"/>
              <a:t>Loading the dataset and performing initial data analysis</a:t>
            </a:r>
            <a:endParaRPr sz="2140"/>
          </a:p>
        </p:txBody>
      </p:sp>
      <p:sp>
        <p:nvSpPr>
          <p:cNvPr id="99" name="Google Shape;99;p15"/>
          <p:cNvSpPr txBox="1">
            <a:spLocks noGrp="1"/>
          </p:cNvSpPr>
          <p:nvPr>
            <p:ph type="body" idx="1"/>
          </p:nvPr>
        </p:nvSpPr>
        <p:spPr>
          <a:xfrm>
            <a:off x="727650" y="1515325"/>
            <a:ext cx="82269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025">
                <a:solidFill>
                  <a:schemeClr val="dk2"/>
                </a:solidFill>
              </a:rPr>
              <a:t>Challenges:</a:t>
            </a:r>
            <a:endParaRPr sz="1025">
              <a:solidFill>
                <a:schemeClr val="dk2"/>
              </a:solidFill>
            </a:endParaRPr>
          </a:p>
          <a:p>
            <a:pPr marL="457200" lvl="0" indent="-293687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25"/>
              <a:buChar char="●"/>
            </a:pPr>
            <a:r>
              <a:rPr lang="en" sz="1025">
                <a:solidFill>
                  <a:schemeClr val="dk2"/>
                </a:solidFill>
              </a:rPr>
              <a:t>Loaded from Hugging Face, HF_TOKEN warning appeared but did not affect loading.</a:t>
            </a:r>
            <a:endParaRPr sz="1025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025">
                <a:solidFill>
                  <a:schemeClr val="dk2"/>
                </a:solidFill>
              </a:rPr>
              <a:t>Dataset Overview:</a:t>
            </a:r>
            <a:endParaRPr sz="1025">
              <a:solidFill>
                <a:schemeClr val="dk2"/>
              </a:solidFill>
            </a:endParaRPr>
          </a:p>
          <a:p>
            <a:pPr marL="457200" lvl="0" indent="-293687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25"/>
              <a:buChar char="●"/>
            </a:pPr>
            <a:r>
              <a:rPr lang="en" sz="1025">
                <a:solidFill>
                  <a:schemeClr val="dk2"/>
                </a:solidFill>
              </a:rPr>
              <a:t>~32,000 rows, 15 columns</a:t>
            </a:r>
            <a:endParaRPr sz="1025">
              <a:solidFill>
                <a:schemeClr val="dk2"/>
              </a:solidFill>
            </a:endParaRPr>
          </a:p>
          <a:p>
            <a:pPr marL="457200" lvl="0" indent="-293687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25"/>
              <a:buChar char="●"/>
            </a:pPr>
            <a:r>
              <a:rPr lang="en" sz="1025">
                <a:solidFill>
                  <a:schemeClr val="dk2"/>
                </a:solidFill>
              </a:rPr>
              <a:t>Mix of categorical and numerical features</a:t>
            </a:r>
            <a:endParaRPr sz="1025">
              <a:solidFill>
                <a:schemeClr val="dk2"/>
              </a:solidFill>
            </a:endParaRPr>
          </a:p>
          <a:p>
            <a:pPr marL="457200" lvl="0" indent="-293687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25"/>
              <a:buChar char="●"/>
            </a:pPr>
            <a:r>
              <a:rPr lang="en" sz="1025">
                <a:solidFill>
                  <a:schemeClr val="dk2"/>
                </a:solidFill>
              </a:rPr>
              <a:t>Key features: age, workclass, education, marital-status, occupation, race, sex, hours-per-week</a:t>
            </a:r>
            <a:endParaRPr sz="1025">
              <a:solidFill>
                <a:schemeClr val="dk2"/>
              </a:solidFill>
            </a:endParaRPr>
          </a:p>
          <a:p>
            <a:pPr marL="457200" lvl="0" indent="-293687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25"/>
              <a:buChar char="●"/>
            </a:pPr>
            <a:r>
              <a:rPr lang="en" sz="1025">
                <a:solidFill>
                  <a:schemeClr val="dk2"/>
                </a:solidFill>
              </a:rPr>
              <a:t>Target: income (&gt;50K or ≤50K)</a:t>
            </a:r>
            <a:endParaRPr sz="1025">
              <a:solidFill>
                <a:schemeClr val="dk2"/>
              </a:solidFill>
            </a:endParaRPr>
          </a:p>
          <a:p>
            <a:pPr marL="457200" lvl="0" indent="-293687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25"/>
              <a:buChar char="●"/>
            </a:pPr>
            <a:r>
              <a:rPr lang="en" sz="1025">
                <a:solidFill>
                  <a:schemeClr val="dk2"/>
                </a:solidFill>
              </a:rPr>
              <a:t>Weight column: fnlwgt</a:t>
            </a:r>
            <a:endParaRPr sz="1025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025">
                <a:solidFill>
                  <a:schemeClr val="dk2"/>
                </a:solidFill>
              </a:rPr>
              <a:t>Data Types:</a:t>
            </a:r>
            <a:endParaRPr sz="1025">
              <a:solidFill>
                <a:schemeClr val="dk2"/>
              </a:solidFill>
            </a:endParaRPr>
          </a:p>
          <a:p>
            <a:pPr marL="457200" lvl="0" indent="-293687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25"/>
              <a:buChar char="●"/>
            </a:pPr>
            <a:r>
              <a:rPr lang="en" sz="1025">
                <a:solidFill>
                  <a:schemeClr val="dk2"/>
                </a:solidFill>
              </a:rPr>
              <a:t>Numerical: age, fnlwgt, education-num, hours-per-week</a:t>
            </a:r>
            <a:endParaRPr sz="1025">
              <a:solidFill>
                <a:schemeClr val="dk2"/>
              </a:solidFill>
            </a:endParaRPr>
          </a:p>
          <a:p>
            <a:pPr marL="457200" lvl="0" indent="-293687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25"/>
              <a:buChar char="●"/>
            </a:pPr>
            <a:r>
              <a:rPr lang="en" sz="1025">
                <a:solidFill>
                  <a:schemeClr val="dk2"/>
                </a:solidFill>
              </a:rPr>
              <a:t>Categorical: workclass, occupation, marital-status, native-country, etc.</a:t>
            </a:r>
            <a:endParaRPr sz="1025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025">
                <a:solidFill>
                  <a:schemeClr val="dk2"/>
                </a:solidFill>
              </a:rPr>
              <a:t>Initial Observations:</a:t>
            </a:r>
            <a:endParaRPr sz="1025">
              <a:solidFill>
                <a:schemeClr val="dk2"/>
              </a:solidFill>
            </a:endParaRPr>
          </a:p>
          <a:p>
            <a:pPr marL="457200" lvl="0" indent="-293687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25"/>
              <a:buChar char="●"/>
            </a:pPr>
            <a:r>
              <a:rPr lang="en" sz="1025">
                <a:solidFill>
                  <a:schemeClr val="dk2"/>
                </a:solidFill>
              </a:rPr>
              <a:t>Numerical features have reasonable ranges (e.g., age spans late teens to older adults)</a:t>
            </a:r>
            <a:endParaRPr sz="1025">
              <a:solidFill>
                <a:schemeClr val="dk2"/>
              </a:solidFill>
            </a:endParaRPr>
          </a:p>
          <a:p>
            <a:pPr marL="457200" lvl="0" indent="-293687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25"/>
              <a:buChar char="●"/>
            </a:pPr>
            <a:r>
              <a:rPr lang="en" sz="1025">
                <a:solidFill>
                  <a:schemeClr val="dk2"/>
                </a:solidFill>
              </a:rPr>
              <a:t>No true missing values; “?” used as unknown in some categorical features</a:t>
            </a:r>
            <a:endParaRPr sz="1025">
              <a:solidFill>
                <a:schemeClr val="dk2"/>
              </a:solidFill>
            </a:endParaRPr>
          </a:p>
          <a:p>
            <a:pPr marL="457200" lvl="0" indent="-293687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25"/>
              <a:buChar char="●"/>
            </a:pPr>
            <a:r>
              <a:rPr lang="en" sz="1025">
                <a:solidFill>
                  <a:schemeClr val="dk2"/>
                </a:solidFill>
              </a:rPr>
              <a:t>Dataset is clean and balanced, suitable for exploratory analysis and predictive modeling</a:t>
            </a:r>
            <a:endParaRPr sz="1025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>
            <a:spLocks noGrp="1"/>
          </p:cNvSpPr>
          <p:nvPr>
            <p:ph type="title"/>
          </p:nvPr>
        </p:nvSpPr>
        <p:spPr>
          <a:xfrm>
            <a:off x="727650" y="111100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40"/>
              <a:t>Any extra steps performed before doing exploratory data analysis</a:t>
            </a:r>
            <a:endParaRPr sz="2340"/>
          </a:p>
        </p:txBody>
      </p:sp>
      <p:sp>
        <p:nvSpPr>
          <p:cNvPr id="105" name="Google Shape;105;p16"/>
          <p:cNvSpPr txBox="1">
            <a:spLocks noGrp="1"/>
          </p:cNvSpPr>
          <p:nvPr>
            <p:ph type="body" idx="1"/>
          </p:nvPr>
        </p:nvSpPr>
        <p:spPr>
          <a:xfrm>
            <a:off x="727650" y="2060000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">
                <a:solidFill>
                  <a:schemeClr val="dk2"/>
                </a:solidFill>
              </a:rPr>
              <a:t>~32,000 rows, no sampling needed</a:t>
            </a:r>
            <a:endParaRPr>
              <a:solidFill>
                <a:schemeClr val="dk2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">
                <a:solidFill>
                  <a:schemeClr val="dk2"/>
                </a:solidFill>
              </a:rPr>
              <a:t>No null values, “?” used as placeholders in some categorical columns</a:t>
            </a:r>
            <a:endParaRPr>
              <a:solidFill>
                <a:schemeClr val="dk2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">
                <a:solidFill>
                  <a:schemeClr val="dk2"/>
                </a:solidFill>
              </a:rPr>
              <a:t>Categorical columns manageable: sex (2), race (few), workclass/occupation (more)</a:t>
            </a:r>
            <a:endParaRPr>
              <a:solidFill>
                <a:schemeClr val="dk2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">
                <a:solidFill>
                  <a:schemeClr val="dk2"/>
                </a:solidFill>
              </a:rPr>
              <a:t>Continuous variables (age, hours-per-week, capital-gain/loss) have realistic ranges, outliers need checking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>
            <a:spLocks noGrp="1"/>
          </p:cNvSpPr>
          <p:nvPr>
            <p:ph type="title"/>
          </p:nvPr>
        </p:nvSpPr>
        <p:spPr>
          <a:xfrm>
            <a:off x="727650" y="1110113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Visualizations</a:t>
            </a:r>
            <a:endParaRPr/>
          </a:p>
        </p:txBody>
      </p:sp>
      <p:pic>
        <p:nvPicPr>
          <p:cNvPr id="111" name="Google Shape;111;p17" title="download (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8974" y="752037"/>
            <a:ext cx="2232626" cy="147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7" title="download (5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10638" y="811038"/>
            <a:ext cx="2701625" cy="135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7" title="download (6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6640" y="2370373"/>
            <a:ext cx="2067535" cy="138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7" title="download (7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23850" y="2413363"/>
            <a:ext cx="2067525" cy="13628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7" title="download (8)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11050" y="2473050"/>
            <a:ext cx="2067524" cy="13981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7" title="download (9)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210838" y="3750700"/>
            <a:ext cx="1673724" cy="129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7" title="download (10)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728949" y="3776250"/>
            <a:ext cx="1911926" cy="1292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7"/>
          <p:cNvSpPr txBox="1"/>
          <p:nvPr/>
        </p:nvSpPr>
        <p:spPr>
          <a:xfrm>
            <a:off x="4655463" y="452250"/>
            <a:ext cx="34446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Univariate Analysis – Categorical variables</a:t>
            </a: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9" name="Google Shape;119;p17"/>
          <p:cNvSpPr txBox="1"/>
          <p:nvPr/>
        </p:nvSpPr>
        <p:spPr>
          <a:xfrm>
            <a:off x="1325388" y="2114250"/>
            <a:ext cx="34446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Univariate Analysis – Continuous variables</a:t>
            </a: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5839150" y="2114250"/>
            <a:ext cx="34446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Bivariate Analysis - Scatter Plot</a:t>
            </a: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1" name="Google Shape;121;p17"/>
          <p:cNvSpPr txBox="1"/>
          <p:nvPr/>
        </p:nvSpPr>
        <p:spPr>
          <a:xfrm>
            <a:off x="89125" y="4107000"/>
            <a:ext cx="34446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Data Skew/ Class imbalance</a:t>
            </a: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" name="Google Shape;122;p17"/>
          <p:cNvSpPr txBox="1"/>
          <p:nvPr/>
        </p:nvSpPr>
        <p:spPr>
          <a:xfrm>
            <a:off x="6716350" y="4107000"/>
            <a:ext cx="24276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Linearity vs non-linearity between features</a:t>
            </a: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>
            <a:spLocks noGrp="1"/>
          </p:cNvSpPr>
          <p:nvPr>
            <p:ph type="title"/>
          </p:nvPr>
        </p:nvSpPr>
        <p:spPr>
          <a:xfrm>
            <a:off x="727650" y="110157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Outlier detection visualization</a:t>
            </a:r>
            <a:endParaRPr/>
          </a:p>
        </p:txBody>
      </p:sp>
      <p:pic>
        <p:nvPicPr>
          <p:cNvPr id="128" name="Google Shape;128;p18" title="download (1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7646" y="1833664"/>
            <a:ext cx="2022678" cy="147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8" title="download (13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38684" y="1822362"/>
            <a:ext cx="2053679" cy="1498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8" title="download (15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54823" y="3408150"/>
            <a:ext cx="2505777" cy="169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8" title="download (16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23525" y="3460021"/>
            <a:ext cx="2321901" cy="159080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8"/>
          <p:cNvSpPr txBox="1"/>
          <p:nvPr/>
        </p:nvSpPr>
        <p:spPr>
          <a:xfrm>
            <a:off x="2547216" y="1474875"/>
            <a:ext cx="9888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Box plot(s)</a:t>
            </a: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3" name="Google Shape;133;p18"/>
          <p:cNvSpPr txBox="1"/>
          <p:nvPr/>
        </p:nvSpPr>
        <p:spPr>
          <a:xfrm>
            <a:off x="7986942" y="1945675"/>
            <a:ext cx="11841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Whisker plot</a:t>
            </a: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4" name="Google Shape;134;p18"/>
          <p:cNvSpPr txBox="1"/>
          <p:nvPr/>
        </p:nvSpPr>
        <p:spPr>
          <a:xfrm>
            <a:off x="1439392" y="3853700"/>
            <a:ext cx="11841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Violin plot(s)</a:t>
            </a: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35" name="Google Shape;135;p18" title="download (17)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81175" y="1431836"/>
            <a:ext cx="2505775" cy="1671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9"/>
          <p:cNvSpPr txBox="1">
            <a:spLocks noGrp="1"/>
          </p:cNvSpPr>
          <p:nvPr>
            <p:ph type="title"/>
          </p:nvPr>
        </p:nvSpPr>
        <p:spPr>
          <a:xfrm>
            <a:off x="727650" y="110157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Multivariate Analysis</a:t>
            </a:r>
            <a:endParaRPr/>
          </a:p>
        </p:txBody>
      </p:sp>
      <p:pic>
        <p:nvPicPr>
          <p:cNvPr id="141" name="Google Shape;141;p19" title="download (1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7725" y="1636775"/>
            <a:ext cx="5148550" cy="320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373</Words>
  <Application>Microsoft Office PowerPoint</Application>
  <PresentationFormat>On-screen Show (16:9)</PresentationFormat>
  <Paragraphs>42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Lato</vt:lpstr>
      <vt:lpstr>Raleway</vt:lpstr>
      <vt:lpstr>Arial</vt:lpstr>
      <vt:lpstr>Streamline</vt:lpstr>
      <vt:lpstr>Income &amp; Employment Factors Exploratory Analysis of U.S. Census Data</vt:lpstr>
      <vt:lpstr>Problem Statement</vt:lpstr>
      <vt:lpstr>Loading the dataset and performing initial data analysis</vt:lpstr>
      <vt:lpstr>Any extra steps performed before doing exploratory data analysis</vt:lpstr>
      <vt:lpstr>Visualizations</vt:lpstr>
      <vt:lpstr>Outlier detection visualization</vt:lpstr>
      <vt:lpstr>Multivariate Analysis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Tucker, Kayla J.</cp:lastModifiedBy>
  <cp:revision>1</cp:revision>
  <dcterms:modified xsi:type="dcterms:W3CDTF">2026-10-08T14:29:56Z</dcterms:modified>
</cp:coreProperties>
</file>